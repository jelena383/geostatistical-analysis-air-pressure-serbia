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70" r:id="rId12"/>
    <p:sldId id="269" r:id="rId13"/>
    <p:sldId id="271" r:id="rId14"/>
    <p:sldId id="272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43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15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1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6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8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58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9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52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1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9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78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3112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21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94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00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1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6D1A713-DCE4-4AB2-95CC-337AFF28E79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2AB477D-962A-493C-961B-0EBD5E536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63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97BA4D-7C7E-4999-9A66-FD90414EBDBC}"/>
              </a:ext>
            </a:extLst>
          </p:cNvPr>
          <p:cNvSpPr txBox="1"/>
          <p:nvPr/>
        </p:nvSpPr>
        <p:spPr>
          <a:xfrm>
            <a:off x="2347137" y="2274838"/>
            <a:ext cx="70984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GEOSTATISTIKA</a:t>
            </a:r>
          </a:p>
          <a:p>
            <a:pPr algn="ctr"/>
            <a:r>
              <a:rPr lang="sr-Latn-RS" sz="36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Geostatističke</a:t>
            </a:r>
            <a:r>
              <a:rPr lang="sr-Latn-R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 metode analize</a:t>
            </a:r>
          </a:p>
          <a:p>
            <a:pPr algn="ctr"/>
            <a:r>
              <a:rPr lang="sr-Latn-R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vazdušnog pritiska na teritoriji</a:t>
            </a:r>
          </a:p>
          <a:p>
            <a:pPr algn="ctr"/>
            <a:r>
              <a:rPr lang="sr-Latn-RS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Republike Srbije</a:t>
            </a:r>
            <a:endParaRPr lang="en-US" sz="36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E8BB9-6CC0-4FCB-B6DA-5315D1D25C45}"/>
              </a:ext>
            </a:extLst>
          </p:cNvPr>
          <p:cNvSpPr txBox="1"/>
          <p:nvPr/>
        </p:nvSpPr>
        <p:spPr>
          <a:xfrm>
            <a:off x="275207" y="5566300"/>
            <a:ext cx="27767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PROFESOR</a:t>
            </a: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prof. dr Branislav Bajat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65111-BC30-47C5-8F42-8838446EEC07}"/>
              </a:ext>
            </a:extLst>
          </p:cNvPr>
          <p:cNvSpPr txBox="1"/>
          <p:nvPr/>
        </p:nvSpPr>
        <p:spPr>
          <a:xfrm>
            <a:off x="8550166" y="5566300"/>
            <a:ext cx="26645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TUDENT</a:t>
            </a: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Jelena Lukić</a:t>
            </a:r>
          </a:p>
          <a:p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Broj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indeksa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/202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39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64A4F8-22AF-4650-A2FF-48E954C95FFC}"/>
              </a:ext>
            </a:extLst>
          </p:cNvPr>
          <p:cNvSpPr txBox="1"/>
          <p:nvPr/>
        </p:nvSpPr>
        <p:spPr>
          <a:xfrm>
            <a:off x="321013" y="1118587"/>
            <a:ext cx="116829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Podaci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korišćeni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radu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preuzeti su sa 6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mernih stanica koje se nalaze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na teritoriji Republike Srbije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kao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teritorijama susednih zemalja.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Napomena: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5 stanica sa vrednostima vazdušnog pritiska jednakim nuli izbačeno je iz analize radi verodostojnijeg prikaza karata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Datum: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.07.2018. –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.07.2018.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sr-Latn-R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Korišćene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metode interpolacije i prostorne statistike: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Kriging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Inverse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Distance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Weighting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(IDW)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Spline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Natural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Neighbor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Hot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Spot analiza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Korišćen softver: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ArcGIS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3.5 </a:t>
            </a:r>
            <a:r>
              <a:rPr lang="sr-Latn-RS" dirty="0" err="1">
                <a:latin typeface="Arial" panose="020B0604020202020204" pitchFamily="34" charset="0"/>
                <a:cs typeface="Arial" panose="020B0604020202020204" pitchFamily="34" charset="0"/>
              </a:rPr>
              <a:t>Patch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 3 (3.5.3)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5E5A8-A354-42A1-A7C5-772C3E9A12DE}"/>
              </a:ext>
            </a:extLst>
          </p:cNvPr>
          <p:cNvSpPr txBox="1"/>
          <p:nvPr/>
        </p:nvSpPr>
        <p:spPr>
          <a:xfrm>
            <a:off x="4137354" y="363985"/>
            <a:ext cx="3917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800" b="1" i="1" dirty="0">
                <a:latin typeface="Arial" panose="020B0604020202020204" pitchFamily="34" charset="0"/>
                <a:cs typeface="Arial" panose="020B0604020202020204" pitchFamily="34" charset="0"/>
              </a:rPr>
              <a:t>UVODNE NAPOMENE</a:t>
            </a:r>
            <a:endParaRPr lang="en-US" sz="28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63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E850C8A-8C07-4FB5-9826-76F2773234DD}"/>
              </a:ext>
            </a:extLst>
          </p:cNvPr>
          <p:cNvSpPr txBox="1"/>
          <p:nvPr/>
        </p:nvSpPr>
        <p:spPr>
          <a:xfrm>
            <a:off x="4831237" y="6071064"/>
            <a:ext cx="74450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1:</a:t>
            </a:r>
            <a:r>
              <a:rPr lang="sr-Latn-RS" sz="1600" b="1" dirty="0">
                <a:latin typeface="Arial" panose="020B0604020202020204" pitchFamily="34" charset="0"/>
                <a:cs typeface="Arial" panose="020B0604020202020204" pitchFamily="34" charset="0"/>
              </a:rPr>
              <a:t>TERITORIJA PROSTORNA DISTRIBUCIJA MERNIH STANICA U REGIONU SRBIJE I SUSEDNIH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 TERITORIJA</a:t>
            </a:r>
            <a:endParaRPr lang="sr-Latn-R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2D0B8-7AA8-4960-A402-C6F9742D3D21}"/>
              </a:ext>
            </a:extLst>
          </p:cNvPr>
          <p:cNvSpPr txBox="1"/>
          <p:nvPr/>
        </p:nvSpPr>
        <p:spPr>
          <a:xfrm>
            <a:off x="4831237" y="1997838"/>
            <a:ext cx="4442306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SRBIJA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SUSEDNE TERITORIJE: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MADJARSKA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HRVATSKA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FEDERACIJA BOSNE I HERCEGOVINE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CRNA GORA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ALBANIJA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SEVERNA MAKEDONIJA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BUGARSKA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sr-Latn-R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RUMUNIJA.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60CAB8-A6C9-70A0-816D-65847CD68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64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5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E5DF9A-F786-4E3A-91DA-BEDD417E5DEF}"/>
              </a:ext>
            </a:extLst>
          </p:cNvPr>
          <p:cNvSpPr txBox="1"/>
          <p:nvPr/>
        </p:nvSpPr>
        <p:spPr>
          <a:xfrm>
            <a:off x="4955959" y="5758784"/>
            <a:ext cx="7116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KARTA 2:TREND VAZDUŠNOG PRITISKA U REGIONU SRBIJE  – KRIGING INTERPOLACIJA  (GEOSTATISTICAL WIZARD)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0C6E4-4622-4CD8-B5E3-63B72D486331}"/>
              </a:ext>
            </a:extLst>
          </p:cNvPr>
          <p:cNvSpPr txBox="1"/>
          <p:nvPr/>
        </p:nvSpPr>
        <p:spPr>
          <a:xfrm>
            <a:off x="4955959" y="1074510"/>
            <a:ext cx="71160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Kriging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predstavlja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naprednu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statističku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kojom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procenjuju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lokacijama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direktnih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merenja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koristeći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podatke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poznatih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tačaka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Ova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široku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primenu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geostatistici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omogućava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modelovanje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predviđanje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prostornih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pojava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što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raspodela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rudnih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resursa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stepen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zagađenosti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zemljišta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voda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ili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određivanje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geoloških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karakteristika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terena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Osnovna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ideja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Kriginga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je da 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proceni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nepoznatih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oslanja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isključivo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postojeća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merenja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prostornu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strukturu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podataka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Drugim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rečima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polazi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pretpostavke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rezultati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dobijeni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bliskim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lokacijama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međusobno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sličniji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nego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oni koji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potiču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većih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udaljenosti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AA84E-8B9C-4932-9BE4-6B49010D1066}"/>
              </a:ext>
            </a:extLst>
          </p:cNvPr>
          <p:cNvSpPr txBox="1"/>
          <p:nvPr/>
        </p:nvSpPr>
        <p:spPr>
          <a:xfrm>
            <a:off x="5293908" y="394366"/>
            <a:ext cx="6778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KRIGING</a:t>
            </a:r>
            <a:r>
              <a:rPr lang="sr-Latn-RS" sz="24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METODA INTERPOLACIJE</a:t>
            </a:r>
            <a:endParaRPr lang="en-US" sz="28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7186E3-E20A-EAF9-5C18-1DC7C8C61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6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B5F616-875A-4DED-97D2-FE4F505D398E}"/>
              </a:ext>
            </a:extLst>
          </p:cNvPr>
          <p:cNvSpPr txBox="1"/>
          <p:nvPr/>
        </p:nvSpPr>
        <p:spPr>
          <a:xfrm>
            <a:off x="5007138" y="5947417"/>
            <a:ext cx="70746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KARTA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: PROSTORNA DISTRIBUCIJA VAZDUŠNOG PRITISKA U REGIONU SRBIJE –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IDW</a:t>
            </a: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 INTERPOLACIJA</a:t>
            </a:r>
          </a:p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D9DDA-8C83-4870-BB18-EDEF0BBE97E5}"/>
              </a:ext>
            </a:extLst>
          </p:cNvPr>
          <p:cNvSpPr txBox="1"/>
          <p:nvPr/>
        </p:nvSpPr>
        <p:spPr>
          <a:xfrm>
            <a:off x="4929325" y="1095608"/>
            <a:ext cx="72626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inverzne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težinske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distance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engl.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Inverse Distance Weighting - IDW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je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jednostavna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koristi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procenu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nepoznatih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temelju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poznatih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merenja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različitim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lokacijama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Ova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pretpostavlja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 je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vrednost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bilo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kojoj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čki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prostoru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povezana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vrednostima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susednim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čkama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 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povezanost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opada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udaljenošću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Osnovna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ideja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IDW-a je da 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težina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svakog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poznatog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merenja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određuje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inverzno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proporcionalno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udaljenosti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od t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čke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znači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merenja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bliža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sr-Latn-RS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čki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važnija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onih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udaljenijih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B5F9C-56D3-4C1E-B949-17B11834756E}"/>
              </a:ext>
            </a:extLst>
          </p:cNvPr>
          <p:cNvSpPr txBox="1"/>
          <p:nvPr/>
        </p:nvSpPr>
        <p:spPr>
          <a:xfrm>
            <a:off x="5204298" y="402751"/>
            <a:ext cx="6692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IDW</a:t>
            </a:r>
            <a:r>
              <a:rPr lang="sr-Latn-RS" sz="28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METODA INTERPOLACIJE</a:t>
            </a:r>
            <a:endParaRPr lang="en-US" sz="28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31F721-07C9-6740-E8EA-0A224A4C7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27C6C4-9C64-4850-A23A-00C22BD16763}"/>
              </a:ext>
            </a:extLst>
          </p:cNvPr>
          <p:cNvSpPr txBox="1"/>
          <p:nvPr/>
        </p:nvSpPr>
        <p:spPr>
          <a:xfrm>
            <a:off x="4844040" y="5758782"/>
            <a:ext cx="7347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KARTA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: PROSTORNA DISTRIBUCIJA VAZDUŠNOG PRITISKA U REGIONU SRBIJE –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SPLINE</a:t>
            </a:r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 INTERPOLACIJA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2CB0C-44B4-4757-BAC6-3C1153B590CC}"/>
              </a:ext>
            </a:extLst>
          </p:cNvPr>
          <p:cNvSpPr txBox="1"/>
          <p:nvPr/>
        </p:nvSpPr>
        <p:spPr>
          <a:xfrm>
            <a:off x="4844039" y="1114780"/>
            <a:ext cx="73479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Spline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interpolacija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predstavlja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zasniva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korišćenju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delova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polinoma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splajnova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kako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bi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poznate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tačke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glatko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povezale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izračunale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između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njih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Ova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često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primenjuje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matematičkoj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analizi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numeričkim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proračunima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računarskoj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grafici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Suština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spline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da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skup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poznatih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tačaka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podeli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više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segmenata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čemu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svaki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segment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aproksimira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posebnim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polinomom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Ovi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polinomi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konstrušu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tako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zadovolje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uslove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kontinuiteta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glatkoće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spojevima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između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segmenata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Najčešće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korišćena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varijanta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kubični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splajn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koji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zasniva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kubičnim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polinomima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unutar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svakog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segmenta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ED5B0-B980-41AC-9113-84059CA75D2B}"/>
              </a:ext>
            </a:extLst>
          </p:cNvPr>
          <p:cNvSpPr txBox="1"/>
          <p:nvPr/>
        </p:nvSpPr>
        <p:spPr>
          <a:xfrm>
            <a:off x="5791430" y="497150"/>
            <a:ext cx="6086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r-Latn-RS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SPLINE</a:t>
            </a:r>
            <a:r>
              <a:rPr lang="en-GB" sz="2800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sr-Latn-RS" sz="24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RS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endParaRPr lang="en-US" sz="28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2CE5A-BA62-A9AC-4195-DCCFA1E73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6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949CF4-A59B-4921-96BF-3ECD9EB44722}"/>
              </a:ext>
            </a:extLst>
          </p:cNvPr>
          <p:cNvSpPr txBox="1"/>
          <p:nvPr/>
        </p:nvSpPr>
        <p:spPr>
          <a:xfrm>
            <a:off x="4804244" y="5758782"/>
            <a:ext cx="7286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r-Latn-RS" b="1" dirty="0">
                <a:latin typeface="Arial" panose="020B0604020202020204" pitchFamily="34" charset="0"/>
                <a:cs typeface="Arial" panose="020B0604020202020204" pitchFamily="34" charset="0"/>
              </a:rPr>
              <a:t>KARTA 5: PROSTORNA DISTRIBUCIJA VAZDUŠNOG PRITISKA U REGIONU SRBIJE – NATURAL NEIGHBOR  INTERPOLACIJA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84F364-4C8B-4C0D-BCD8-3CF479794922}"/>
              </a:ext>
            </a:extLst>
          </p:cNvPr>
          <p:cNvSpPr txBox="1"/>
          <p:nvPr/>
        </p:nvSpPr>
        <p:spPr>
          <a:xfrm>
            <a:off x="4810826" y="1197619"/>
            <a:ext cx="73811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prirodnih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suseda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(Natural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Neighbor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Interpolation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predstavlja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omogućava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procenu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nepoznatim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lokacijama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koristeći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postojeća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merenja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Ova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cenjena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zbog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svoje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sposobnosti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očuva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lokalne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karakteristike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podataka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što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posebno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korisno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kada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interpoliraju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prostorni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podaci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nejednako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raspoređenim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tačkama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Suština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metode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prirodnih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suseda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da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vrednost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svakoj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nepoznatoj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tački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određuje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osnovu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pripadnosti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"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njenim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susednim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poznatim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tačkama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Glavni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princip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interpolacije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leži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primeni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težinske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funkcije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definiše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koliki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doprinos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svaka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poznata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susedna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tačka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formiranju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interpolirane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5E230-F418-4891-8032-DE8F64ABBB4A}"/>
              </a:ext>
            </a:extLst>
          </p:cNvPr>
          <p:cNvSpPr txBox="1"/>
          <p:nvPr/>
        </p:nvSpPr>
        <p:spPr>
          <a:xfrm>
            <a:off x="5009745" y="268218"/>
            <a:ext cx="7080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NEIGHBOR </a:t>
            </a:r>
          </a:p>
          <a:p>
            <a:pPr algn="ctr"/>
            <a:r>
              <a:rPr lang="en-GB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METODA INTERPOLACIJE</a:t>
            </a:r>
            <a:endParaRPr lang="en-US" sz="28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543636-AEE2-80A8-083C-64ED18B2F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8C54F3-6387-4024-971B-C626C0834299}"/>
              </a:ext>
            </a:extLst>
          </p:cNvPr>
          <p:cNvSpPr txBox="1"/>
          <p:nvPr/>
        </p:nvSpPr>
        <p:spPr>
          <a:xfrm>
            <a:off x="3570051" y="-54941"/>
            <a:ext cx="5437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TREND</a:t>
            </a:r>
            <a:endParaRPr lang="en-US" sz="28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5A872-4B3C-4132-B9D3-CDC4D841C30C}"/>
              </a:ext>
            </a:extLst>
          </p:cNvPr>
          <p:cNvSpPr txBox="1"/>
          <p:nvPr/>
        </p:nvSpPr>
        <p:spPr>
          <a:xfrm>
            <a:off x="126460" y="829986"/>
            <a:ext cx="120655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statistici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trend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označava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karakteristično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kretanje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određene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pojave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tokom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vremena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Sastoji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se od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niza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prosečnih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ili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teorijskih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koje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bi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posmatrana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pojava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imala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određenim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periodima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 ne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postoje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sezonski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ili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slučajni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faktori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koji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utiču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njen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tok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Trend se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ponekad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naziva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dinamičkom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srednjom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vrednošću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jer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prikazuje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prosečno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stanje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pojave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posmatranom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periodu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Na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osnovu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ekstrapolacije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trenda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moguće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predviđati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buduće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promene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kretanja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pojave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3C44EF-9086-B13B-F9E3-2B863B45A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26" y="2790896"/>
            <a:ext cx="2591025" cy="3785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1121ED-2AF6-203F-F310-E8CFB21DA5CB}"/>
              </a:ext>
            </a:extLst>
          </p:cNvPr>
          <p:cNvSpPr txBox="1"/>
          <p:nvPr/>
        </p:nvSpPr>
        <p:spPr>
          <a:xfrm>
            <a:off x="2868151" y="2059481"/>
            <a:ext cx="6104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Uporedni</a:t>
            </a:r>
            <a:r>
              <a:rPr lang="en-GB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prikaz</a:t>
            </a:r>
            <a:r>
              <a:rPr lang="en-GB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interpolacionih</a:t>
            </a:r>
            <a:r>
              <a:rPr lang="en-GB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trendova</a:t>
            </a:r>
            <a:r>
              <a:rPr lang="en-GB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GB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sličnosti</a:t>
            </a:r>
            <a:r>
              <a:rPr lang="en-GB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razlike</a:t>
            </a:r>
            <a:endParaRPr lang="en-GB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FA61F-B4B3-3370-654B-E53082593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871" y="2803088"/>
            <a:ext cx="2820992" cy="37859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177BCA-FD0B-C597-9B27-F7A00AC2C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101" y="2803087"/>
            <a:ext cx="2820992" cy="3785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7995E7-D61F-A767-F416-C5DB6D2F3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7813" y="2803087"/>
            <a:ext cx="2907061" cy="377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9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A7F378-5E4C-4DCD-930E-E7CA7913DC95}"/>
              </a:ext>
            </a:extLst>
          </p:cNvPr>
          <p:cNvSpPr txBox="1"/>
          <p:nvPr/>
        </p:nvSpPr>
        <p:spPr>
          <a:xfrm>
            <a:off x="3190671" y="62144"/>
            <a:ext cx="4737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4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GEOSTATISTICAL WIZARD</a:t>
            </a:r>
            <a:endParaRPr lang="en-US" sz="24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119784-0E56-4372-9D91-E38396E47BC5}"/>
              </a:ext>
            </a:extLst>
          </p:cNvPr>
          <p:cNvCxnSpPr>
            <a:cxnSpLocks/>
          </p:cNvCxnSpPr>
          <p:nvPr/>
        </p:nvCxnSpPr>
        <p:spPr>
          <a:xfrm>
            <a:off x="10271465" y="3521900"/>
            <a:ext cx="14204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6585139-ED55-B1BC-AC77-DC79C0218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8" y="462254"/>
            <a:ext cx="4787038" cy="30596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8A57DC-B725-9EBF-5179-8486ECC64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327" y="462254"/>
            <a:ext cx="4737349" cy="2966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F70355-2D26-E71F-E2B6-1EE6B582C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38" y="3798352"/>
            <a:ext cx="4802838" cy="30596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C67FC-D768-5C84-9E84-32AFCE20BA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327" y="3798354"/>
            <a:ext cx="4873558" cy="30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3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B707CD0-CF00-411F-B2EE-D6C2A623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58" y="643467"/>
            <a:ext cx="10977231" cy="55710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FEDE54-2D8D-B663-C71A-B3109F5445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63" r="20403" b="-2"/>
          <a:stretch>
            <a:fillRect/>
          </a:stretch>
        </p:blipFill>
        <p:spPr>
          <a:xfrm>
            <a:off x="772925" y="804334"/>
            <a:ext cx="6600859" cy="52493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CF01E25-C562-7228-83D1-5EAEA7ADE2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95" r="40080" b="-2"/>
          <a:stretch>
            <a:fillRect/>
          </a:stretch>
        </p:blipFill>
        <p:spPr>
          <a:xfrm>
            <a:off x="7534656" y="804334"/>
            <a:ext cx="3893764" cy="52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05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4E25-D8B2-31AB-5ED1-5AAB145D4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 SPOT ANALIZA</a:t>
            </a:r>
            <a:r>
              <a:rPr lang="en-GB" sz="24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(GeoDa </a:t>
            </a:r>
            <a:r>
              <a:rPr lang="en-GB" sz="24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24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ArcGIS Pro)</a:t>
            </a:r>
            <a:br>
              <a:rPr lang="en-GB" sz="2400" b="1" i="1" dirty="0">
                <a:solidFill>
                  <a:srgbClr val="00B0F0"/>
                </a:solidFill>
              </a:rPr>
            </a:br>
            <a:endParaRPr lang="en-GB" sz="2400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77EB9-4ED9-9C2E-93B3-BF7A5362E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just">
              <a:buNone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Hot Spot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analiza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razlikuje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od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interpolacionih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metoda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jer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ne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predviđa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između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tačaka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ne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stvara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kontinualnu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površinu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Umesto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toga,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ona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statistički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ispituje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da li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visoke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ili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niske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značajno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prostorno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grupisane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Rezultat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klaster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mape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koje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jasno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označavaju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„hot“ zone 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visoke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„cold“ zone 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niske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vrednosti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).Ova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analiza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omogućava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prepoznavanje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kritičnih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prostorno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značajnih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obrazaca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koji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interpolacijom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ne bi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bili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uočeni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što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je od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posebnog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značaja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prostorno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planiranje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donošenje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odluka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detaljnija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istraživanja.Na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narednim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slajdovima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prikazani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ključni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koraci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analize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u GeoDa (Local G*): od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ulaznih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podataka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povezanosti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između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stanica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preko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grafa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histograma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konektivnosti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, do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finalne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Hot Spot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mape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koja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otkriva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prostorno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značajne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klastere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. Za ArcGIS Pro (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Getis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-Ord Gi*)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prikazani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ključni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koraci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: od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odabira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sloja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tačaka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definisanja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parametara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prostorne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težine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alatu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Hot Spot Analysis,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preko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prozora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rezultatima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statističke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značajnosti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, do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finalne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Hot Spot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mape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koja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vizuelizuje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statistički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značajne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dirty="0" err="1">
                <a:latin typeface="Arial" panose="020B0604020202020204" pitchFamily="34" charset="0"/>
                <a:cs typeface="Arial" panose="020B0604020202020204" pitchFamily="34" charset="0"/>
              </a:rPr>
              <a:t>klastere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6910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FE90EE-7B27-2F24-4A4C-5E1C7F89C3F5}"/>
              </a:ext>
            </a:extLst>
          </p:cNvPr>
          <p:cNvSpPr txBox="1"/>
          <p:nvPr/>
        </p:nvSpPr>
        <p:spPr>
          <a:xfrm>
            <a:off x="3249037" y="62144"/>
            <a:ext cx="4737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000" b="1" i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GeoDa – Local G*</a:t>
            </a:r>
            <a:endParaRPr lang="en-US" sz="20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BAFE42-AD66-713F-F416-C08B1AB08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11" y="532593"/>
            <a:ext cx="5288021" cy="2966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F816D-BC75-7F95-FCAA-E46BB68F7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12" y="3801745"/>
            <a:ext cx="5245240" cy="2966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AEEC69-AFC9-BCA5-E8EF-6DFBAEB52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32593"/>
            <a:ext cx="5114230" cy="2966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5B8988-7BCD-98A4-C02A-58A1B7A70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610" y="3887642"/>
            <a:ext cx="5114230" cy="279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88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6ED6E4-29DE-1AEF-6C88-77E525FAB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978" y="1537075"/>
            <a:ext cx="7353685" cy="47880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1A14BC-A229-02B3-0683-647764BD1C1D}"/>
              </a:ext>
            </a:extLst>
          </p:cNvPr>
          <p:cNvSpPr txBox="1"/>
          <p:nvPr/>
        </p:nvSpPr>
        <p:spPr>
          <a:xfrm>
            <a:off x="2169267" y="178943"/>
            <a:ext cx="82879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Spot Analiza</a:t>
            </a:r>
            <a:r>
              <a:rPr lang="en-GB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GeoDa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Identifikacija kritičnih zona (</a:t>
            </a:r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Non-significant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786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305E620-189F-8542-6265-FE0404A3D346}"/>
              </a:ext>
            </a:extLst>
          </p:cNvPr>
          <p:cNvSpPr txBox="1"/>
          <p:nvPr/>
        </p:nvSpPr>
        <p:spPr>
          <a:xfrm>
            <a:off x="301557" y="542308"/>
            <a:ext cx="10865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Spot Analiza</a:t>
            </a:r>
            <a:r>
              <a:rPr lang="en-GB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ArcGIS Pro/</a:t>
            </a:r>
            <a:r>
              <a:rPr lang="en-GB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Getis</a:t>
            </a:r>
            <a:r>
              <a:rPr lang="en-GB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-Ord Gi*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Identifikacija kritičnih zona (</a:t>
            </a:r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Cold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en-GB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on-</a:t>
            </a:r>
            <a:r>
              <a:rPr lang="sr-Latn-RS" sz="2000" b="1" i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</a:t>
            </a:r>
            <a:r>
              <a:rPr lang="sr-Latn-RS" sz="2000" b="1" i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 b="1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540BCA-A395-F5B7-A6A6-8B62EF37F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1" y="1250194"/>
            <a:ext cx="4848301" cy="5510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4860C0-2D1A-C45C-D4FC-1095AB5B1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410" y="2443626"/>
            <a:ext cx="5730737" cy="22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7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D40651-7A5C-499C-9842-6F7D39758965}"/>
              </a:ext>
            </a:extLst>
          </p:cNvPr>
          <p:cNvSpPr txBox="1"/>
          <p:nvPr/>
        </p:nvSpPr>
        <p:spPr>
          <a:xfrm>
            <a:off x="861791" y="835383"/>
            <a:ext cx="3382832" cy="34995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200" b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Arial" panose="020B0604020202020204" pitchFamily="34" charset="0"/>
              </a:rPr>
              <a:t>HVALA NA PAŽNJI!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187575-5CB4-477B-AA47-020C6D2A7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585F70-7C5D-424E-A182-39507AF48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E7C008A-3063-43F1-6FCA-682667F35A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32" r="1" b="1"/>
          <a:stretch>
            <a:fillRect/>
          </a:stretch>
        </p:blipFill>
        <p:spPr>
          <a:xfrm>
            <a:off x="4654297" y="10"/>
            <a:ext cx="753770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69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2068</TotalTime>
  <Words>942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Calisto MT</vt:lpstr>
      <vt:lpstr>Times New Roman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HOT SPOT ANALIZA (GeoDa i ArcGIS Pro)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jekili</cp:lastModifiedBy>
  <cp:revision>35</cp:revision>
  <dcterms:created xsi:type="dcterms:W3CDTF">2024-05-28T13:12:08Z</dcterms:created>
  <dcterms:modified xsi:type="dcterms:W3CDTF">2026-05-11T15:31:56Z</dcterms:modified>
</cp:coreProperties>
</file>